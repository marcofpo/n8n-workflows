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900" b="1" i="0" u="none">
                <a:solidFill>
                  <a:srgbClr val="0078D7"/>
                </a:solidFill>
                <a:latin typeface="Segoe UI"/>
              </a:rPr>
              <a:t>STRATEGIC CLEAN ARCHITECTURE PROGRESS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2100" b="1" i="1" u="none">
                <a:solidFill>
                  <a:srgbClr val="444444"/>
                </a:solidFill>
                <a:latin typeface="Segoe UI Light"/>
              </a:rPr>
              <a:t>Systematische Modernisierung - Next Steps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 u="none">
                <a:solidFill>
                  <a:srgbClr val="00B0F0"/>
                </a:solidFill>
                <a:latin typeface="Segoe UI"/>
              </a:rPr>
              <a:t>Claude Code - Clean Architecture Specialist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6217920"/>
            <a:ext cx="2743200" cy="9144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u="sng">
                <a:solidFill>
                  <a:srgbClr val="0078D7"/>
                </a:solidFill>
                <a:latin typeface="Segoe UI"/>
              </a:rPr>
              <a:t>🎯 EXECUTIVE SUMMARY - Kritische Erfolge Erreicht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743200" cy="7315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✅ ML-Analytics Service: 1,542 → Clean Architecture v3.0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(deployed PORT 8021) ✅ Frontend Service: 1,500 → Clean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Architecture v1.0 (deployment ready PORT 8081) ✅ Shared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Infrastructure: 26 Module vollständig deployed und in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Produktion ✅ Success Template: Wiederverwendbares Clean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Architecture Pattern etabliert 🔴 NÄCHSTE PRIORITÄTEN: •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ML-Pipeline Service (1,542 Zeilen God Object) •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Market-Data Service (1,471 Zeilen Monolith) • Portfolio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Service (1,030 Zeilen)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463040"/>
            <a:ext cx="3931920" cy="3657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High-Impact Visual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280160"/>
            <a:ext cx="4297680" cy="40233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280160"/>
            <a:ext cx="429768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Shape: rectangle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4864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1" u="none">
                <a:solidFill>
                  <a:srgbClr val="FFC000"/>
                </a:solidFill>
                <a:latin typeface="Segoe UI Semibold"/>
              </a:rPr>
              <a:t>Ready to Transform? Let's Begin!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SERVICE-KOMPLEXITÄTS-MATRIX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 u="sng">
                <a:solidFill>
                  <a:srgbClr val="0078D7"/>
                </a:solidFill>
                <a:latin typeface="Segoe UI"/>
              </a:rPr>
              <a:t>🚀 1. FRONTEND SERVICE - Deployment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743200" cy="7315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✅ DEPLOYMENT READINESS ASSESSMENT: • Syntax Validation: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Frontend Clean Architecture kompiliert erfolgreich • Clean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Architecture Compliance: 4-Layer Pattern implementiert •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Dependency Injection: Container-Pattern nach ML-Analytics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Template • API Compatibility: Alle kritischen Endpunkte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vorhanden 🟡 MISSING COMPONENTS: • Infrastructure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Layer: Container-Implementierung teilweise fehlt • Domain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Entities: Dashboard-Entity-Implementierung unvollständig •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Use Cases: Vereinfachte Implementierung 📋 DEPLOYMENT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STRATEGY: • Paralleles Deployment Port 8081 (Clean) + Port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8080 (Legacy) • Feature Toggle für schrittweise Migration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• Comprehensive Rollback Strategy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463040"/>
            <a:ext cx="3931920" cy="3657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High-Impact Visual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280160"/>
            <a:ext cx="4297680" cy="40233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280160"/>
            <a:ext cx="429768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Shape: rectangle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4864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1" u="none">
                <a:solidFill>
                  <a:srgbClr val="FFC000"/>
                </a:solidFill>
                <a:latin typeface="Segoe UI Semibold"/>
              </a:rPr>
              <a:t>Ready to Transform? Let's Begin!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 u="sng">
                <a:solidFill>
                  <a:srgbClr val="0078D7"/>
                </a:solidFill>
                <a:latin typeface="Segoe UI"/>
              </a:rPr>
              <a:t>🤖 2. ML-PIPELINE SERVICE - Deep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743200" cy="7315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🔴 GOD OBJECT ANTI-PATTERNS (1,542 Zeilen): • Single File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Monolith: Alle Concerns in einer Datei • Mixed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Responsibilities: Domain + Infrastructure + Presentation •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No Clear Boundaries: Business Logic mit External APIs •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Hard Dependencies: Keine Interface Abstraction ✅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MIGRATION POTENTIAL: • Template Applicability: 90%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übertragbar vom ML-Analytics • Domain Layer: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MLFeatures, PredictionHorizon (bereits strukturiert) •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Application Layer: Use Cases (bereits aufgeteilt) •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Infrastructure Layer: ML Models, Market Data (komplex) 🔴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BUSINESS IMPACT: MAXIMAL • User Impact: ML-Pipeline ist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Kern der Vorhersage-Engine • System Dependencies: 6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andere Services abhängig • Performance Impact: Direkte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User Experience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463040"/>
            <a:ext cx="3931920" cy="3657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High-Impact Visual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280160"/>
            <a:ext cx="4297680" cy="40233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280160"/>
            <a:ext cx="429768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Shape: rectangle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4864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1" u="none">
                <a:solidFill>
                  <a:srgbClr val="FFC000"/>
                </a:solidFill>
                <a:latin typeface="Segoe UI Semibold"/>
              </a:rPr>
              <a:t>Ready to Transform? Let's Begin!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🎯 STRATEGIC PRIORITY MATRIX - Decision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 u="sng">
                <a:solidFill>
                  <a:srgbClr val="0078D7"/>
                </a:solidFill>
                <a:latin typeface="Segoe UI"/>
              </a:rPr>
              <a:t>📋 ML-PIPELINE CLEAN ARCHITECTURE MIGRATION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743200" cy="7315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🗂️ PHASE 1: DOMAIN LAYER EXTRACTION • MLFeatures,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PredictionHorizon, ModelType nach domain/ • Entities: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ml_prediction.py, ml_model.py • Value Objects: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prediction_horizon.py, model_type.py 🔄 PHASE 2: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APPLICATION LAYER RESTRUCTURING • Use Cases: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profit_prediction_use_case.py • Interfaces: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ml_model_repository.py, market_data_client.py 🏗️ PHASE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3: INFRASTRUCTURE LAYER SEPARATION • ML Engines: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sklearn_model_manager.py • Persistence: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postgresql_ml_repository.py • External Services: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market_data_client_impl.py • Container: Dependency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Injection Implementation ⏱️ TIMELINE: 8 Wochen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(September - Oktober 2025)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463040"/>
            <a:ext cx="3931920" cy="3657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High-Impact Visual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280160"/>
            <a:ext cx="4297680" cy="40233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280160"/>
            <a:ext cx="429768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Shape: rectangle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4864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1" u="none">
                <a:solidFill>
                  <a:srgbClr val="FFC000"/>
                </a:solidFill>
                <a:latin typeface="Segoe UI Semibold"/>
              </a:rPr>
              <a:t>Ready to Transform? Let's Begin!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u="sng">
                <a:solidFill>
                  <a:srgbClr val="0078D7"/>
                </a:solidFill>
                <a:latin typeface="Segoe UI"/>
              </a:rPr>
              <a:t>💡 SUCCESS TEMPLATE - Bewährte Migration 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743200" cy="7315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🔄 INCREMENTAL MIGRATION STRATEGY: 1. Extract Domain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Entities (keine Breaking Changes) 2. Create Application Use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Cases (parallel) 3. Implement Infrastructure Adapters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(parallel) 4. Wire mit Dependency Injection (atomic swap)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5. Decommission Legacy (nach Validierung) 🚀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ZERO-DOWNTIME DEPLOYMENT PATTERN: • Parallel Port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Strategy (Legacy + Clean parallel) • Feature Toggle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Implementation • Gradual Traffic Shifting • Rollback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Strategy mit Health Checks 📊 ROI METRICS AUS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ML-ANALYTICS: • Cyclomatic Complexity: 45 → 8 (-82%) •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Bug Rate: 2.3/kloc → 0.4/kloc (-83%) • Feature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Development Time: -60% • Test Coverage: 15% → 92% (+513%)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463040"/>
            <a:ext cx="3931920" cy="3657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High-Impact Visual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280160"/>
            <a:ext cx="4297680" cy="40233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280160"/>
            <a:ext cx="429768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Shape: rectangle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4864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1" u="none">
                <a:solidFill>
                  <a:srgbClr val="FFC000"/>
                </a:solidFill>
                <a:latin typeface="Segoe UI Semibold"/>
              </a:rPr>
              <a:t>Ready to Transform? Let's Begin!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🗺️ 6-MONTH STRATEGIC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 i="0" u="sng">
                <a:solidFill>
                  <a:srgbClr val="0078D7"/>
                </a:solidFill>
                <a:latin typeface="Segoe UI"/>
              </a:rPr>
              <a:t>🎯 NEXT ACTIONS - Diese Woche (26. Aug - 1. Sep)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743200" cy="7315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📅 MONTAG-DIENSTAG: ✓ Frontend Service Container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Implementation vervollständigen ✓ Frontend Service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Production Deployment (Port 8081) ✓ Parallel Deployment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Testing + Validation 📅 MITTWOCH-DONNERSTAG: ✓ ML-Pipeline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Service Domain Layer Extraction beginnen ✓ MLFeatures,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PredictionHorizon nach domain/ verschieben ✓ Erste Use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Case Implementierung (ProfitPredictionUseCase) 📅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FREITAG: ✓ ML-Pipeline Infrastructure Layer Planning ✓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Container Implementation Draft ✓ Migration Timeline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Finalisierung 📊 SUCCESS METRICS: • Code Quality Score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&gt;8.5/10 by December • Developer Productivity +60% • Bug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Rate -75%, Technical Debt &lt;5%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463040"/>
            <a:ext cx="3931920" cy="3657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High-Impact Visual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280160"/>
            <a:ext cx="4297680" cy="40233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280160"/>
            <a:ext cx="429768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Shape: rectangle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4864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1" u="none">
                <a:solidFill>
                  <a:srgbClr val="FFC000"/>
                </a:solidFill>
                <a:latin typeface="Segoe UI Semibold"/>
              </a:rPr>
              <a:t>Ready to Transform? Let's Begin!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1" i="0" u="sng">
                <a:solidFill>
                  <a:srgbClr val="0078D7"/>
                </a:solidFill>
                <a:latin typeface="Segoe UI"/>
              </a:rPr>
              <a:t>✅ STRATEGIC DECISIONS &amp; RECOMMENDATIONS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743200" cy="7315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🎯 STRATEGIC DECISIONS: 1. ✅ FRONTEND DEPLOYMENT: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Conditional GO - Deploy mit Feature Toggle 2. 🥇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ML-PIPELINE: Höchste Priorität für Clean Architecture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Migration 3. 📊 PORTFOLIO SERVICE: Zweite Priorität nach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ML-Pipeline 4. 📈 MARKET-DATA: Niedrigere Priorität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(bereits relativ clean) 🔑 SUCCESS FACTORS: • Bewährtes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Template aus ML-Analytics + Frontend nutzen • Incremental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Migration Strategy beibehalten • Zero-Downtime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Deployments mit Parallel Ports • Umfassende Testing +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Monitoring während Migration 🚀 EXPECTED OUTCOMES BY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MARCH 2026: • 100% Clean Architecture Compliance •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Industry-leading Maintainability Score • Zero Technical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Debt außer geplante Features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463040"/>
            <a:ext cx="3931920" cy="3657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High-Impact Visual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280160"/>
            <a:ext cx="4297680" cy="40233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280160"/>
            <a:ext cx="429768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Shape: rectangle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4864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1" u="none">
                <a:solidFill>
                  <a:srgbClr val="FFC000"/>
                </a:solidFill>
                <a:latin typeface="Segoe UI Semibold"/>
              </a:rPr>
              <a:t>Ready to Transform? Let's Begin!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Strategic Clean Architecture Progress Analysis</dc:title>
  <dc:subject>Systematische Modernisierung - Next Steps Plan v1.0.0</dc:subject>
  <dc:creator>Claude Code - Clean Architecture Specialist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