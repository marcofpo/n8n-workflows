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2800" b="1" i="0" u="none">
                <a:solidFill>
                  <a:srgbClr val="0078D7"/>
                </a:solidFill>
                <a:latin typeface="Segoe UI"/>
              </a:rPr>
              <a:t>Strategic Ecosystem Modernization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1" i="1" u="none">
                <a:solidFill>
                  <a:srgbClr val="444444"/>
                </a:solidFill>
                <a:latin typeface="Segoe UI Light"/>
              </a:rPr>
              <a:t>Clean Architecture Pipeline für 11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 u="none">
                <a:solidFill>
                  <a:srgbClr val="00B0F0"/>
                </a:solidFill>
                <a:latin typeface="Segoe UI"/>
              </a:rPr>
              <a:t>Claude Code - Architecture Specialist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6217920"/>
            <a:ext cx="2743200" cy="9144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3800" b="1" i="0" u="sng">
                <a:solidFill>
                  <a:srgbClr val="0078D7"/>
                </a:solidFill>
                <a:latin typeface="Segoe UI"/>
              </a:rPr>
              <a:t>Strategic Success Foundation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743200" cy="7315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• ML-Analytics: 3,496 lines → Clean Architecture SUCCESS •</a:t>
            </a:r>
          </a:p>
          <a:p>
            <a:pPr algn="l">
              <a:lnSpc>
                <a:spcPct val="13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Template Established: Proven migration pattern • 11</a:t>
            </a:r>
          </a:p>
          <a:p>
            <a:pPr algn="l">
              <a:lnSpc>
                <a:spcPct val="13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Services Identified: Priority matrix complete • Automated</a:t>
            </a:r>
          </a:p>
          <a:p>
            <a:pPr algn="l">
              <a:lnSpc>
                <a:spcPct val="13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Pipeline: Ready for execution • 400-700% ROI Projection:</a:t>
            </a:r>
          </a:p>
          <a:p>
            <a:pPr algn="l">
              <a:lnSpc>
                <a:spcPct val="13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Quantified business value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463040"/>
            <a:ext cx="3931920" cy="3657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High-Impact Visual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280160"/>
            <a:ext cx="4297680" cy="402336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280160"/>
            <a:ext cx="429768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Shape: rectangle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4864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1" u="none">
                <a:solidFill>
                  <a:srgbClr val="FFC000"/>
                </a:solidFill>
                <a:latin typeface="Segoe UI Semibold"/>
              </a:rPr>
              <a:t>Ready to Transform? Let's Begin!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4100" b="1" i="0" u="sng">
                <a:solidFill>
                  <a:srgbClr val="0078D7"/>
                </a:solidFill>
                <a:latin typeface="Segoe UI"/>
              </a:rPr>
              <a:t>Service Priority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743200" cy="7315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🔥 P1 CRITICAL: • Frontend: 1,500 lines → 20 days migration</a:t>
            </a:r>
          </a:p>
          <a:p>
            <a:pPr algn="l">
              <a:lnSpc>
                <a:spcPct val="13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• Market-Data: ~1,471 lines → 15 days migration •</a:t>
            </a:r>
          </a:p>
          <a:p>
            <a:pPr algn="l">
              <a:lnSpc>
                <a:spcPct val="13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ML-Pipeline: ~1,542 lines → 18 days migration 🟡 P2-P4</a:t>
            </a:r>
          </a:p>
          <a:p>
            <a:pPr algn="l">
              <a:lnSpc>
                <a:spcPct val="13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SERVICES: • 8 additional services identified • Automated</a:t>
            </a:r>
          </a:p>
          <a:p>
            <a:pPr algn="l">
              <a:lnSpc>
                <a:spcPct val="13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pipeline ready • Q1-Q2 2026 timeline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463040"/>
            <a:ext cx="3931920" cy="3657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High-Impact Visual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280160"/>
            <a:ext cx="4297680" cy="402336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280160"/>
            <a:ext cx="429768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Shape: rectangle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4864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1" u="none">
                <a:solidFill>
                  <a:srgbClr val="FFC000"/>
                </a:solidFill>
                <a:latin typeface="Segoe UI Semibold"/>
              </a:rPr>
              <a:t>Ready to Transform? Let's Begin!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3900" b="1" i="0" u="sng">
                <a:solidFill>
                  <a:srgbClr val="0078D7"/>
                </a:solidFill>
                <a:latin typeface="Segoe UI"/>
              </a:rPr>
              <a:t>Business Impact Projections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743200" cy="7315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📈 DEVELOPMENT VELOCITY: • +300% in 3 months • +500% in 6</a:t>
            </a:r>
          </a:p>
          <a:p>
            <a:pPr algn="l">
              <a:lnSpc>
                <a:spcPct val="13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months • +800% in 12 months 💰 FINANCIAL BENEFITS: • Bug</a:t>
            </a:r>
          </a:p>
          <a:p>
            <a:pPr algn="l">
              <a:lnSpc>
                <a:spcPct val="13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Resolution: -80% to -95% time • Deployment Risk: -90% to</a:t>
            </a:r>
          </a:p>
          <a:p>
            <a:pPr algn="l">
              <a:lnSpc>
                <a:spcPct val="13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-99% • Team Productivity: +200% to +600% • ROI: 250% to</a:t>
            </a:r>
          </a:p>
          <a:p>
            <a:pPr algn="l">
              <a:lnSpc>
                <a:spcPct val="13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700% within 12 months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463040"/>
            <a:ext cx="3931920" cy="3657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High-Impact Visual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280160"/>
            <a:ext cx="4297680" cy="402336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280160"/>
            <a:ext cx="429768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Shape: rectangle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4864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1" u="none">
                <a:solidFill>
                  <a:srgbClr val="FFC000"/>
                </a:solidFill>
                <a:latin typeface="Segoe UI Semibold"/>
              </a:rPr>
              <a:t>Ready to Transform? Let's Begin!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4100" b="1" i="0" u="sng">
                <a:solidFill>
                  <a:srgbClr val="0078D7"/>
                </a:solidFill>
                <a:latin typeface="Segoe UI"/>
              </a:rPr>
              <a:t>6-Month Strategic Timeline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743200" cy="7315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🗓️ Q4 2025 - CRITICAL FOUNDATION: • Oct: Frontend Service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(20 days) • Nov: Market-Data Service (15 days) • Dec: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ML-Pipeline Service (18 days) 🗓️ Q1-Q2 2026 - ECOSYSTEM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EXPANSION: • Jan-Mar: Medium complexity services •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Apr-Jun: Quality framework + optimization • All 11 services</a:t>
            </a:r>
          </a:p>
          <a:p>
            <a:pPr algn="l">
              <a:lnSpc>
                <a:spcPct val="14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modernized by June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463040"/>
            <a:ext cx="3931920" cy="3657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High-Impact Visual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280160"/>
            <a:ext cx="4297680" cy="402336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280160"/>
            <a:ext cx="429768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Shape: rectangle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4864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1" u="none">
                <a:solidFill>
                  <a:srgbClr val="FFC000"/>
                </a:solidFill>
                <a:latin typeface="Segoe UI Semibold"/>
              </a:rPr>
              <a:t>Ready to Transform? Let's Begin!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4400" b="1" i="0" u="none">
                <a:solidFill>
                  <a:srgbClr val="0078D7"/>
                </a:solidFill>
                <a:latin typeface="Segoe UI"/>
              </a:rPr>
              <a:t>EXECUTION READY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1" u="none">
                <a:solidFill>
                  <a:srgbClr val="444444"/>
                </a:solidFill>
                <a:latin typeface="Segoe UI Light"/>
              </a:rPr>
              <a:t>Strategic Clean Architecture Pipeline für 11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 u="none">
                <a:solidFill>
                  <a:srgbClr val="00B0F0"/>
                </a:solidFill>
                <a:latin typeface="Segoe UI"/>
              </a:rPr>
              <a:t>Next Step: Frontend Service Migration - START IMMEDIATELY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6217920"/>
            <a:ext cx="2743200" cy="9144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